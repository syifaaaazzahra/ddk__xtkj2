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TT Chocolates Bold" charset="1" panose="02000803020000020003"/>
      <p:regular r:id="rId13"/>
    </p:embeddedFont>
    <p:embeddedFont>
      <p:font typeface="TT Chocolates" charset="1" panose="02000503020000020003"/>
      <p:regular r:id="rId14"/>
    </p:embeddedFont>
    <p:embeddedFont>
      <p:font typeface="Arimo" charset="1" panose="020B0604020202020204"/>
      <p:regular r:id="rId15"/>
    </p:embeddedFont>
    <p:embeddedFont>
      <p:font typeface="League Spartan" charset="1" panose="000008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1.png" Type="http://schemas.openxmlformats.org/officeDocument/2006/relationships/image"/><Relationship Id="rId8" Target="../media/image9.png" Type="http://schemas.openxmlformats.org/officeDocument/2006/relationships/image"/><Relationship Id="rId9" Target="../media/image10.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1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4" id="4"/>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5" id="5"/>
          <p:cNvSpPr/>
          <p:nvPr/>
        </p:nvSpPr>
        <p:spPr>
          <a:xfrm flipH="true" flipV="true" rot="0">
            <a:off x="1781448" y="1968012"/>
            <a:ext cx="13457590" cy="7009162"/>
          </a:xfrm>
          <a:custGeom>
            <a:avLst/>
            <a:gdLst/>
            <a:ahLst/>
            <a:cxnLst/>
            <a:rect r="r" b="b" t="t" l="l"/>
            <a:pathLst>
              <a:path h="7009162" w="13457590">
                <a:moveTo>
                  <a:pt x="13457591" y="7009162"/>
                </a:moveTo>
                <a:lnTo>
                  <a:pt x="0" y="7009162"/>
                </a:lnTo>
                <a:lnTo>
                  <a:pt x="0" y="0"/>
                </a:lnTo>
                <a:lnTo>
                  <a:pt x="13457591" y="0"/>
                </a:lnTo>
                <a:lnTo>
                  <a:pt x="13457591" y="700916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383479" y="3302058"/>
            <a:ext cx="5121624" cy="3892435"/>
          </a:xfrm>
          <a:custGeom>
            <a:avLst/>
            <a:gdLst/>
            <a:ahLst/>
            <a:cxnLst/>
            <a:rect r="r" b="b" t="t" l="l"/>
            <a:pathLst>
              <a:path h="3892435" w="5121624">
                <a:moveTo>
                  <a:pt x="0" y="0"/>
                </a:moveTo>
                <a:lnTo>
                  <a:pt x="5121625" y="0"/>
                </a:lnTo>
                <a:lnTo>
                  <a:pt x="5121625" y="3892434"/>
                </a:lnTo>
                <a:lnTo>
                  <a:pt x="0" y="3892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0">
            <a:off x="10205466" y="1133475"/>
            <a:ext cx="7187184" cy="8229600"/>
          </a:xfrm>
          <a:custGeom>
            <a:avLst/>
            <a:gdLst/>
            <a:ahLst/>
            <a:cxnLst/>
            <a:rect r="r" b="b" t="t" l="l"/>
            <a:pathLst>
              <a:path h="8229600" w="7187184">
                <a:moveTo>
                  <a:pt x="7187184" y="0"/>
                </a:moveTo>
                <a:lnTo>
                  <a:pt x="0" y="0"/>
                </a:lnTo>
                <a:lnTo>
                  <a:pt x="0" y="8229600"/>
                </a:lnTo>
                <a:lnTo>
                  <a:pt x="7187184" y="8229600"/>
                </a:lnTo>
                <a:lnTo>
                  <a:pt x="7187184" y="0"/>
                </a:lnTo>
                <a:close/>
              </a:path>
            </a:pathLst>
          </a:custGeom>
          <a:blipFill>
            <a:blip r:embed="rId7"/>
            <a:stretch>
              <a:fillRect l="0" t="0" r="0" b="0"/>
            </a:stretch>
          </a:blipFill>
        </p:spPr>
      </p:sp>
      <p:sp>
        <p:nvSpPr>
          <p:cNvPr name="Freeform 8" id="8"/>
          <p:cNvSpPr/>
          <p:nvPr/>
        </p:nvSpPr>
        <p:spPr>
          <a:xfrm flipH="false" flipV="false" rot="0">
            <a:off x="10348341" y="1415184"/>
            <a:ext cx="1005757" cy="857789"/>
          </a:xfrm>
          <a:custGeom>
            <a:avLst/>
            <a:gdLst/>
            <a:ahLst/>
            <a:cxnLst/>
            <a:rect r="r" b="b" t="t" l="l"/>
            <a:pathLst>
              <a:path h="857789" w="1005757">
                <a:moveTo>
                  <a:pt x="0" y="0"/>
                </a:moveTo>
                <a:lnTo>
                  <a:pt x="1005757" y="0"/>
                </a:lnTo>
                <a:lnTo>
                  <a:pt x="1005757" y="857788"/>
                </a:lnTo>
                <a:lnTo>
                  <a:pt x="0" y="857788"/>
                </a:lnTo>
                <a:lnTo>
                  <a:pt x="0" y="0"/>
                </a:lnTo>
                <a:close/>
              </a:path>
            </a:pathLst>
          </a:custGeom>
          <a:blipFill>
            <a:blip r:embed="rId4"/>
            <a:stretch>
              <a:fillRect l="0" t="0" r="0" b="0"/>
            </a:stretch>
          </a:blipFill>
        </p:spPr>
      </p:sp>
      <p:sp>
        <p:nvSpPr>
          <p:cNvPr name="Freeform 9" id="9"/>
          <p:cNvSpPr/>
          <p:nvPr/>
        </p:nvSpPr>
        <p:spPr>
          <a:xfrm flipH="false" flipV="false" rot="0">
            <a:off x="14488372" y="9363075"/>
            <a:ext cx="2505060" cy="2482287"/>
          </a:xfrm>
          <a:custGeom>
            <a:avLst/>
            <a:gdLst/>
            <a:ahLst/>
            <a:cxnLst/>
            <a:rect r="r" b="b" t="t" l="l"/>
            <a:pathLst>
              <a:path h="2482287" w="2505060">
                <a:moveTo>
                  <a:pt x="0" y="0"/>
                </a:moveTo>
                <a:lnTo>
                  <a:pt x="2505060" y="0"/>
                </a:lnTo>
                <a:lnTo>
                  <a:pt x="2505060" y="2482287"/>
                </a:lnTo>
                <a:lnTo>
                  <a:pt x="0" y="24822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313045" y="1133475"/>
            <a:ext cx="680388" cy="654409"/>
          </a:xfrm>
          <a:custGeom>
            <a:avLst/>
            <a:gdLst/>
            <a:ahLst/>
            <a:cxnLst/>
            <a:rect r="r" b="b" t="t" l="l"/>
            <a:pathLst>
              <a:path h="654409" w="680388">
                <a:moveTo>
                  <a:pt x="0" y="0"/>
                </a:moveTo>
                <a:lnTo>
                  <a:pt x="680387" y="0"/>
                </a:lnTo>
                <a:lnTo>
                  <a:pt x="680387" y="654409"/>
                </a:lnTo>
                <a:lnTo>
                  <a:pt x="0" y="6544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7661529" y="7194492"/>
            <a:ext cx="820846" cy="789505"/>
          </a:xfrm>
          <a:custGeom>
            <a:avLst/>
            <a:gdLst/>
            <a:ahLst/>
            <a:cxnLst/>
            <a:rect r="r" b="b" t="t" l="l"/>
            <a:pathLst>
              <a:path h="789505" w="820846">
                <a:moveTo>
                  <a:pt x="0" y="0"/>
                </a:moveTo>
                <a:lnTo>
                  <a:pt x="820846" y="0"/>
                </a:lnTo>
                <a:lnTo>
                  <a:pt x="820846" y="789505"/>
                </a:lnTo>
                <a:lnTo>
                  <a:pt x="0" y="7895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2" id="12"/>
          <p:cNvSpPr txBox="true"/>
          <p:nvPr/>
        </p:nvSpPr>
        <p:spPr>
          <a:xfrm rot="0">
            <a:off x="2296607" y="2919890"/>
            <a:ext cx="8051734" cy="2398164"/>
          </a:xfrm>
          <a:prstGeom prst="rect">
            <a:avLst/>
          </a:prstGeom>
        </p:spPr>
        <p:txBody>
          <a:bodyPr anchor="t" rtlCol="false" tIns="0" lIns="0" bIns="0" rIns="0">
            <a:spAutoFit/>
          </a:bodyPr>
          <a:lstStyle/>
          <a:p>
            <a:pPr algn="l">
              <a:lnSpc>
                <a:spcPts val="9318"/>
              </a:lnSpc>
            </a:pPr>
            <a:r>
              <a:rPr lang="en-US" sz="8471" spc="84" b="true">
                <a:solidFill>
                  <a:srgbClr val="FFFFFF"/>
                </a:solidFill>
                <a:latin typeface="TT Chocolates Bold"/>
                <a:ea typeface="TT Chocolates Bold"/>
                <a:cs typeface="TT Chocolates Bold"/>
                <a:sym typeface="TT Chocolates Bold"/>
              </a:rPr>
              <a:t>Perkembangan teknologi </a:t>
            </a:r>
          </a:p>
        </p:txBody>
      </p:sp>
      <p:sp>
        <p:nvSpPr>
          <p:cNvPr name="TextBox 13" id="13"/>
          <p:cNvSpPr txBox="true"/>
          <p:nvPr/>
        </p:nvSpPr>
        <p:spPr>
          <a:xfrm rot="0">
            <a:off x="2296607" y="6610292"/>
            <a:ext cx="5042841" cy="584200"/>
          </a:xfrm>
          <a:prstGeom prst="rect">
            <a:avLst/>
          </a:prstGeom>
        </p:spPr>
        <p:txBody>
          <a:bodyPr anchor="t" rtlCol="false" tIns="0" lIns="0" bIns="0" rIns="0">
            <a:spAutoFit/>
          </a:bodyPr>
          <a:lstStyle/>
          <a:p>
            <a:pPr algn="l">
              <a:lnSpc>
                <a:spcPts val="4400"/>
              </a:lnSpc>
            </a:pPr>
            <a:r>
              <a:rPr lang="en-US" sz="4000">
                <a:solidFill>
                  <a:srgbClr val="FFFFFF"/>
                </a:solidFill>
                <a:latin typeface="TT Chocolates"/>
                <a:ea typeface="TT Chocolates"/>
                <a:cs typeface="TT Chocolates"/>
                <a:sym typeface="TT Chocolates"/>
              </a:rPr>
              <a:t>Oleh Mutiara&amp;Syifa </a:t>
            </a:r>
          </a:p>
        </p:txBody>
      </p:sp>
      <p:sp>
        <p:nvSpPr>
          <p:cNvPr name="Freeform 14" id="14"/>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4"/>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true" flipV="false" rot="0">
            <a:off x="13712277" y="6580545"/>
            <a:ext cx="3771988" cy="3020056"/>
          </a:xfrm>
          <a:custGeom>
            <a:avLst/>
            <a:gdLst/>
            <a:ahLst/>
            <a:cxnLst/>
            <a:rect r="r" b="b" t="t" l="l"/>
            <a:pathLst>
              <a:path h="3020056" w="3771988">
                <a:moveTo>
                  <a:pt x="3771988" y="0"/>
                </a:moveTo>
                <a:lnTo>
                  <a:pt x="0" y="0"/>
                </a:lnTo>
                <a:lnTo>
                  <a:pt x="0" y="3020056"/>
                </a:lnTo>
                <a:lnTo>
                  <a:pt x="3771988" y="3020056"/>
                </a:lnTo>
                <a:lnTo>
                  <a:pt x="3771988" y="0"/>
                </a:lnTo>
                <a:close/>
              </a:path>
            </a:pathLst>
          </a:custGeom>
          <a:blipFill>
            <a:blip r:embed="rId7"/>
            <a:stretch>
              <a:fillRect l="0" t="0" r="0" b="0"/>
            </a:stretch>
          </a:blipFill>
        </p:spPr>
      </p:sp>
      <p:sp>
        <p:nvSpPr>
          <p:cNvPr name="Freeform 10" id="10"/>
          <p:cNvSpPr/>
          <p:nvPr/>
        </p:nvSpPr>
        <p:spPr>
          <a:xfrm flipH="false" flipV="false" rot="0">
            <a:off x="14718943" y="3968316"/>
            <a:ext cx="680388" cy="654409"/>
          </a:xfrm>
          <a:custGeom>
            <a:avLst/>
            <a:gdLst/>
            <a:ahLst/>
            <a:cxnLst/>
            <a:rect r="r" b="b" t="t" l="l"/>
            <a:pathLst>
              <a:path h="654409" w="680388">
                <a:moveTo>
                  <a:pt x="0" y="0"/>
                </a:moveTo>
                <a:lnTo>
                  <a:pt x="680387" y="0"/>
                </a:lnTo>
                <a:lnTo>
                  <a:pt x="680387" y="654409"/>
                </a:lnTo>
                <a:lnTo>
                  <a:pt x="0" y="65440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2682921" y="2187867"/>
            <a:ext cx="11908793" cy="720725"/>
          </a:xfrm>
          <a:prstGeom prst="rect">
            <a:avLst/>
          </a:prstGeom>
        </p:spPr>
        <p:txBody>
          <a:bodyPr anchor="t" rtlCol="false" tIns="0" lIns="0" bIns="0" rIns="0">
            <a:spAutoFit/>
          </a:bodyPr>
          <a:lstStyle/>
          <a:p>
            <a:pPr algn="l">
              <a:lnSpc>
                <a:spcPts val="5499"/>
              </a:lnSpc>
            </a:pPr>
            <a:r>
              <a:rPr lang="en-US" sz="4999" b="true">
                <a:solidFill>
                  <a:srgbClr val="FFFFFF"/>
                </a:solidFill>
                <a:latin typeface="TT Chocolates Bold"/>
                <a:ea typeface="TT Chocolates Bold"/>
                <a:cs typeface="TT Chocolates Bold"/>
                <a:sym typeface="TT Chocolates Bold"/>
              </a:rPr>
              <a:t>Apa itu Perkembangan teknologi?</a:t>
            </a:r>
          </a:p>
        </p:txBody>
      </p:sp>
      <p:sp>
        <p:nvSpPr>
          <p:cNvPr name="TextBox 12" id="12"/>
          <p:cNvSpPr txBox="true"/>
          <p:nvPr/>
        </p:nvSpPr>
        <p:spPr>
          <a:xfrm rot="0">
            <a:off x="2682921" y="3135313"/>
            <a:ext cx="11029356" cy="2950845"/>
          </a:xfrm>
          <a:prstGeom prst="rect">
            <a:avLst/>
          </a:prstGeom>
        </p:spPr>
        <p:txBody>
          <a:bodyPr anchor="t" rtlCol="false" tIns="0" lIns="0" bIns="0" rIns="0">
            <a:spAutoFit/>
          </a:bodyPr>
          <a:lstStyle/>
          <a:p>
            <a:pPr algn="l">
              <a:lnSpc>
                <a:spcPts val="5880"/>
              </a:lnSpc>
            </a:pPr>
            <a:r>
              <a:rPr lang="en-US" sz="4200">
                <a:solidFill>
                  <a:srgbClr val="FFFFFF"/>
                </a:solidFill>
                <a:latin typeface="TT Chocolates"/>
                <a:ea typeface="TT Chocolates"/>
                <a:cs typeface="TT Chocolates"/>
                <a:sym typeface="TT Chocolates"/>
              </a:rPr>
              <a:t>Teknologi adalah segala bentuk alat, metode, atau sistem yang dibuat manusia untuk mempermudah pekerjaan dan menyelesaikan masalah.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4"/>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3192601" y="2249221"/>
            <a:ext cx="11902797" cy="720725"/>
          </a:xfrm>
          <a:prstGeom prst="rect">
            <a:avLst/>
          </a:prstGeom>
        </p:spPr>
        <p:txBody>
          <a:bodyPr anchor="t" rtlCol="false" tIns="0" lIns="0" bIns="0" rIns="0">
            <a:spAutoFit/>
          </a:bodyPr>
          <a:lstStyle/>
          <a:p>
            <a:pPr algn="ctr">
              <a:lnSpc>
                <a:spcPts val="5499"/>
              </a:lnSpc>
            </a:pPr>
            <a:r>
              <a:rPr lang="en-US" sz="4999" b="true">
                <a:solidFill>
                  <a:srgbClr val="FFFFFF"/>
                </a:solidFill>
                <a:latin typeface="TT Chocolates Bold"/>
                <a:ea typeface="TT Chocolates Bold"/>
                <a:cs typeface="TT Chocolates Bold"/>
                <a:sym typeface="TT Chocolates Bold"/>
              </a:rPr>
              <a:t>Sejarah perkembangan teknologi </a:t>
            </a:r>
          </a:p>
        </p:txBody>
      </p:sp>
      <p:sp>
        <p:nvSpPr>
          <p:cNvPr name="TextBox 10" id="10"/>
          <p:cNvSpPr txBox="true"/>
          <p:nvPr/>
        </p:nvSpPr>
        <p:spPr>
          <a:xfrm rot="0">
            <a:off x="1873272" y="3014894"/>
            <a:ext cx="14531816" cy="5604201"/>
          </a:xfrm>
          <a:prstGeom prst="rect">
            <a:avLst/>
          </a:prstGeom>
        </p:spPr>
        <p:txBody>
          <a:bodyPr anchor="t" rtlCol="false" tIns="0" lIns="0" bIns="0" rIns="0">
            <a:spAutoFit/>
          </a:bodyPr>
          <a:lstStyle/>
          <a:p>
            <a:pPr algn="ctr">
              <a:lnSpc>
                <a:spcPts val="4963"/>
              </a:lnSpc>
            </a:pPr>
            <a:r>
              <a:rPr lang="en-US" sz="3545">
                <a:solidFill>
                  <a:srgbClr val="FFFFFF"/>
                </a:solidFill>
                <a:latin typeface="TT Chocolates"/>
                <a:ea typeface="TT Chocolates"/>
                <a:cs typeface="TT Chocolates"/>
                <a:sym typeface="TT Chocolates"/>
              </a:rPr>
              <a:t>Teknologi berkembang dari alat-alat sederhana pada zaman prasejarah seperti batu dan kayu, kemudian manusia mulai menggunakan logam (perunggu dan besi). Pada zaman kuno, muncul roda, tulisan, dan sistem irigasi. Memasuki abad pertengahan, ditemukan kompas dan mesin cetak. Perkembangan besar terjadi saat Revolusi Industri dengan hadirnya mesin uap, pabrik, dan transportasi modern. Abad ke-20 membawa penemuan pesawat, radio, televisi, komputer, dan roket. Kini di era digital, teknologi berkembang sangat cepat dengan internet, smartphone, robot, dan kecerdasan buatan.</a:t>
            </a:r>
          </a:p>
        </p:txBody>
      </p:sp>
      <p:sp>
        <p:nvSpPr>
          <p:cNvPr name="Freeform 11" id="11"/>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7"/>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3192601" y="2163496"/>
            <a:ext cx="11902797" cy="720725"/>
          </a:xfrm>
          <a:prstGeom prst="rect">
            <a:avLst/>
          </a:prstGeom>
        </p:spPr>
        <p:txBody>
          <a:bodyPr anchor="t" rtlCol="false" tIns="0" lIns="0" bIns="0" rIns="0">
            <a:spAutoFit/>
          </a:bodyPr>
          <a:lstStyle/>
          <a:p>
            <a:pPr algn="ctr">
              <a:lnSpc>
                <a:spcPts val="5499"/>
              </a:lnSpc>
            </a:pPr>
            <a:r>
              <a:rPr lang="en-US" sz="4999" b="true">
                <a:solidFill>
                  <a:srgbClr val="FFFFFF"/>
                </a:solidFill>
                <a:latin typeface="TT Chocolates Bold"/>
                <a:ea typeface="TT Chocolates Bold"/>
                <a:cs typeface="TT Chocolates Bold"/>
                <a:sym typeface="TT Chocolates Bold"/>
              </a:rPr>
              <a:t>Manfaat Perkembangan Teknologi </a:t>
            </a:r>
          </a:p>
        </p:txBody>
      </p:sp>
      <p:sp>
        <p:nvSpPr>
          <p:cNvPr name="Freeform 5" id="5"/>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6" id="6"/>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7" id="7"/>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4"/>
            <a:stretch>
              <a:fillRect l="0" t="0" r="0" b="0"/>
            </a:stretch>
          </a:blipFill>
        </p:spPr>
      </p:sp>
      <p:sp>
        <p:nvSpPr>
          <p:cNvPr name="Freeform 8" id="8"/>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true" flipV="false" rot="0">
            <a:off x="15608770" y="5650158"/>
            <a:ext cx="1676722" cy="3798642"/>
          </a:xfrm>
          <a:custGeom>
            <a:avLst/>
            <a:gdLst/>
            <a:ahLst/>
            <a:cxnLst/>
            <a:rect r="r" b="b" t="t" l="l"/>
            <a:pathLst>
              <a:path h="3798642" w="1676722">
                <a:moveTo>
                  <a:pt x="1676722" y="0"/>
                </a:moveTo>
                <a:lnTo>
                  <a:pt x="0" y="0"/>
                </a:lnTo>
                <a:lnTo>
                  <a:pt x="0" y="3798642"/>
                </a:lnTo>
                <a:lnTo>
                  <a:pt x="1676722" y="3798642"/>
                </a:lnTo>
                <a:lnTo>
                  <a:pt x="1676722" y="0"/>
                </a:lnTo>
                <a:close/>
              </a:path>
            </a:pathLst>
          </a:custGeom>
          <a:blipFill>
            <a:blip r:embed="rId7"/>
            <a:stretch>
              <a:fillRect l="0" t="0" r="0" b="0"/>
            </a:stretch>
          </a:blipFill>
        </p:spPr>
      </p:sp>
      <p:sp>
        <p:nvSpPr>
          <p:cNvPr name="TextBox 11" id="11"/>
          <p:cNvSpPr txBox="true"/>
          <p:nvPr/>
        </p:nvSpPr>
        <p:spPr>
          <a:xfrm rot="0">
            <a:off x="4803026" y="2156569"/>
            <a:ext cx="8273802" cy="6317908"/>
          </a:xfrm>
          <a:prstGeom prst="rect">
            <a:avLst/>
          </a:prstGeom>
        </p:spPr>
        <p:txBody>
          <a:bodyPr anchor="t" rtlCol="false" tIns="0" lIns="0" bIns="0" rIns="0">
            <a:spAutoFit/>
          </a:bodyPr>
          <a:lstStyle/>
          <a:p>
            <a:pPr algn="ctr">
              <a:lnSpc>
                <a:spcPts val="3823"/>
              </a:lnSpc>
            </a:pPr>
          </a:p>
          <a:p>
            <a:pPr algn="ctr">
              <a:lnSpc>
                <a:spcPts val="3823"/>
              </a:lnSpc>
            </a:pPr>
          </a:p>
          <a:p>
            <a:pPr algn="ctr">
              <a:lnSpc>
                <a:spcPts val="3823"/>
              </a:lnSpc>
            </a:pPr>
            <a:r>
              <a:rPr lang="en-US" sz="3475">
                <a:solidFill>
                  <a:srgbClr val="FFFFFF"/>
                </a:solidFill>
                <a:latin typeface="Arimo"/>
                <a:ea typeface="Arimo"/>
                <a:cs typeface="Arimo"/>
                <a:sym typeface="Arimo"/>
              </a:rPr>
              <a:t>1.</a:t>
            </a:r>
            <a:r>
              <a:rPr lang="en-US" sz="3475">
                <a:solidFill>
                  <a:srgbClr val="FFFFFF"/>
                </a:solidFill>
                <a:latin typeface="Arimo"/>
                <a:ea typeface="Arimo"/>
                <a:cs typeface="Arimo"/>
                <a:sym typeface="Arimo"/>
              </a:rPr>
              <a:t>Mempermudah komunikasi.</a:t>
            </a:r>
          </a:p>
          <a:p>
            <a:pPr algn="ctr">
              <a:lnSpc>
                <a:spcPts val="3823"/>
              </a:lnSpc>
            </a:pPr>
          </a:p>
          <a:p>
            <a:pPr algn="ctr">
              <a:lnSpc>
                <a:spcPts val="3823"/>
              </a:lnSpc>
            </a:pPr>
            <a:r>
              <a:rPr lang="en-US" sz="3475">
                <a:solidFill>
                  <a:srgbClr val="FFFFFF"/>
                </a:solidFill>
                <a:latin typeface="Arimo"/>
                <a:ea typeface="Arimo"/>
                <a:cs typeface="Arimo"/>
                <a:sym typeface="Arimo"/>
              </a:rPr>
              <a:t>2.</a:t>
            </a:r>
            <a:r>
              <a:rPr lang="en-US" sz="3475">
                <a:solidFill>
                  <a:srgbClr val="FFFFFF"/>
                </a:solidFill>
                <a:latin typeface="Arimo"/>
                <a:ea typeface="Arimo"/>
                <a:cs typeface="Arimo"/>
                <a:sym typeface="Arimo"/>
              </a:rPr>
              <a:t>Mempercepat pekerjaan.</a:t>
            </a:r>
          </a:p>
          <a:p>
            <a:pPr algn="ctr">
              <a:lnSpc>
                <a:spcPts val="3823"/>
              </a:lnSpc>
            </a:pPr>
          </a:p>
          <a:p>
            <a:pPr algn="ctr">
              <a:lnSpc>
                <a:spcPts val="3823"/>
              </a:lnSpc>
            </a:pPr>
            <a:r>
              <a:rPr lang="en-US" sz="3475">
                <a:solidFill>
                  <a:srgbClr val="FFFFFF"/>
                </a:solidFill>
                <a:latin typeface="Arimo"/>
                <a:ea typeface="Arimo"/>
                <a:cs typeface="Arimo"/>
                <a:sym typeface="Arimo"/>
              </a:rPr>
              <a:t>3.</a:t>
            </a:r>
            <a:r>
              <a:rPr lang="en-US" sz="3475">
                <a:solidFill>
                  <a:srgbClr val="FFFFFF"/>
                </a:solidFill>
                <a:latin typeface="Arimo"/>
                <a:ea typeface="Arimo"/>
                <a:cs typeface="Arimo"/>
                <a:sym typeface="Arimo"/>
              </a:rPr>
              <a:t>Memudahkan akses informasi.</a:t>
            </a:r>
          </a:p>
          <a:p>
            <a:pPr algn="ctr">
              <a:lnSpc>
                <a:spcPts val="3823"/>
              </a:lnSpc>
            </a:pPr>
          </a:p>
          <a:p>
            <a:pPr algn="ctr">
              <a:lnSpc>
                <a:spcPts val="3823"/>
              </a:lnSpc>
            </a:pPr>
            <a:r>
              <a:rPr lang="en-US" sz="3475">
                <a:solidFill>
                  <a:srgbClr val="FFFFFF"/>
                </a:solidFill>
                <a:latin typeface="Arimo"/>
                <a:ea typeface="Arimo"/>
                <a:cs typeface="Arimo"/>
                <a:sym typeface="Arimo"/>
              </a:rPr>
              <a:t>4.</a:t>
            </a:r>
            <a:r>
              <a:rPr lang="en-US" sz="3475">
                <a:solidFill>
                  <a:srgbClr val="FFFFFF"/>
                </a:solidFill>
                <a:latin typeface="Arimo"/>
                <a:ea typeface="Arimo"/>
                <a:cs typeface="Arimo"/>
                <a:sym typeface="Arimo"/>
              </a:rPr>
              <a:t>Meningkatkan layanan pendidikan dan kesehatan.</a:t>
            </a:r>
          </a:p>
          <a:p>
            <a:pPr algn="ctr">
              <a:lnSpc>
                <a:spcPts val="3823"/>
              </a:lnSpc>
            </a:pPr>
          </a:p>
          <a:p>
            <a:pPr algn="ctr">
              <a:lnSpc>
                <a:spcPts val="3823"/>
              </a:lnSpc>
            </a:pPr>
            <a:r>
              <a:rPr lang="en-US" sz="3475">
                <a:solidFill>
                  <a:srgbClr val="FFFFFF"/>
                </a:solidFill>
                <a:latin typeface="Arimo"/>
                <a:ea typeface="Arimo"/>
                <a:cs typeface="Arimo"/>
                <a:sym typeface="Arimo"/>
              </a:rPr>
              <a:t>5.</a:t>
            </a:r>
            <a:r>
              <a:rPr lang="en-US" sz="3475">
                <a:solidFill>
                  <a:srgbClr val="FFFFFF"/>
                </a:solidFill>
                <a:latin typeface="Arimo"/>
                <a:ea typeface="Arimo"/>
                <a:cs typeface="Arimo"/>
                <a:sym typeface="Arimo"/>
              </a:rPr>
              <a:t>Memudahkan transportasi dan aktivitas sehari-hari.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4"/>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5129856" y="7765672"/>
            <a:ext cx="2645712" cy="2133639"/>
          </a:xfrm>
          <a:custGeom>
            <a:avLst/>
            <a:gdLst/>
            <a:ahLst/>
            <a:cxnLst/>
            <a:rect r="r" b="b" t="t" l="l"/>
            <a:pathLst>
              <a:path h="2133639" w="2645712">
                <a:moveTo>
                  <a:pt x="0" y="0"/>
                </a:moveTo>
                <a:lnTo>
                  <a:pt x="2645712" y="0"/>
                </a:lnTo>
                <a:lnTo>
                  <a:pt x="2645712" y="2133638"/>
                </a:lnTo>
                <a:lnTo>
                  <a:pt x="0" y="2133638"/>
                </a:lnTo>
                <a:lnTo>
                  <a:pt x="0" y="0"/>
                </a:lnTo>
                <a:close/>
              </a:path>
            </a:pathLst>
          </a:custGeom>
          <a:blipFill>
            <a:blip r:embed="rId7"/>
            <a:stretch>
              <a:fillRect l="0" t="0" r="0" b="0"/>
            </a:stretch>
          </a:blipFill>
        </p:spPr>
      </p:sp>
      <p:sp>
        <p:nvSpPr>
          <p:cNvPr name="TextBox 10" id="10"/>
          <p:cNvSpPr txBox="true"/>
          <p:nvPr/>
        </p:nvSpPr>
        <p:spPr>
          <a:xfrm rot="0">
            <a:off x="586365" y="2249221"/>
            <a:ext cx="17115270" cy="720725"/>
          </a:xfrm>
          <a:prstGeom prst="rect">
            <a:avLst/>
          </a:prstGeom>
        </p:spPr>
        <p:txBody>
          <a:bodyPr anchor="t" rtlCol="false" tIns="0" lIns="0" bIns="0" rIns="0">
            <a:spAutoFit/>
          </a:bodyPr>
          <a:lstStyle/>
          <a:p>
            <a:pPr algn="ctr">
              <a:lnSpc>
                <a:spcPts val="5499"/>
              </a:lnSpc>
            </a:pPr>
            <a:r>
              <a:rPr lang="en-US" sz="4999" b="true">
                <a:solidFill>
                  <a:srgbClr val="FFFFFF"/>
                </a:solidFill>
                <a:latin typeface="TT Chocolates Bold"/>
                <a:ea typeface="TT Chocolates Bold"/>
                <a:cs typeface="TT Chocolates Bold"/>
                <a:sym typeface="TT Chocolates Bold"/>
              </a:rPr>
              <a:t>Contoh  perkembangan teknologi diberbagai bidang </a:t>
            </a:r>
          </a:p>
        </p:txBody>
      </p:sp>
      <p:sp>
        <p:nvSpPr>
          <p:cNvPr name="TextBox 11" id="11"/>
          <p:cNvSpPr txBox="true"/>
          <p:nvPr/>
        </p:nvSpPr>
        <p:spPr>
          <a:xfrm rot="0">
            <a:off x="1873272" y="2912684"/>
            <a:ext cx="13526058" cy="13762775"/>
          </a:xfrm>
          <a:prstGeom prst="rect">
            <a:avLst/>
          </a:prstGeom>
        </p:spPr>
        <p:txBody>
          <a:bodyPr anchor="t" rtlCol="false" tIns="0" lIns="0" bIns="0" rIns="0">
            <a:spAutoFit/>
          </a:bodyPr>
          <a:lstStyle/>
          <a:p>
            <a:pPr algn="just">
              <a:lnSpc>
                <a:spcPts val="4058"/>
              </a:lnSpc>
            </a:pPr>
            <a:r>
              <a:rPr lang="en-US" sz="2898">
                <a:solidFill>
                  <a:srgbClr val="FFFFFF"/>
                </a:solidFill>
                <a:latin typeface="TT Chocolates"/>
                <a:ea typeface="TT Chocolates"/>
                <a:cs typeface="TT Chocolates"/>
                <a:sym typeface="TT Chocolates"/>
              </a:rPr>
              <a:t>a. Komunikasi</a:t>
            </a:r>
          </a:p>
          <a:p>
            <a:pPr algn="just">
              <a:lnSpc>
                <a:spcPts val="4058"/>
              </a:lnSpc>
            </a:pPr>
            <a:r>
              <a:rPr lang="en-US" sz="2898">
                <a:solidFill>
                  <a:srgbClr val="FFFFFF"/>
                </a:solidFill>
                <a:latin typeface="TT Chocolates"/>
                <a:ea typeface="TT Chocolates"/>
                <a:cs typeface="TT Chocolates"/>
                <a:sym typeface="TT Chocolates"/>
              </a:rPr>
              <a:t>Surat → telepon → smartphone → video call.</a:t>
            </a:r>
          </a:p>
          <a:p>
            <a:pPr algn="just">
              <a:lnSpc>
                <a:spcPts val="4058"/>
              </a:lnSpc>
            </a:pPr>
            <a:r>
              <a:rPr lang="en-US" sz="2898">
                <a:solidFill>
                  <a:srgbClr val="FFFFFF"/>
                </a:solidFill>
                <a:latin typeface="TT Chocolates"/>
                <a:ea typeface="TT Chocolates"/>
                <a:cs typeface="TT Chocolates"/>
                <a:sym typeface="TT Chocolates"/>
              </a:rPr>
              <a:t>b. Transportasi</a:t>
            </a:r>
          </a:p>
          <a:p>
            <a:pPr algn="just">
              <a:lnSpc>
                <a:spcPts val="4058"/>
              </a:lnSpc>
            </a:pPr>
            <a:r>
              <a:rPr lang="en-US" sz="2898">
                <a:solidFill>
                  <a:srgbClr val="FFFFFF"/>
                </a:solidFill>
                <a:latin typeface="TT Chocolates"/>
                <a:ea typeface="TT Chocolates"/>
                <a:cs typeface="TT Chocolates"/>
                <a:sym typeface="TT Chocolates"/>
              </a:rPr>
              <a:t>Gerobak → sepeda → mobil → kereta cepat → kendaraan listrik.</a:t>
            </a:r>
          </a:p>
          <a:p>
            <a:pPr algn="just">
              <a:lnSpc>
                <a:spcPts val="4058"/>
              </a:lnSpc>
            </a:pPr>
            <a:r>
              <a:rPr lang="en-US" sz="2898">
                <a:solidFill>
                  <a:srgbClr val="FFFFFF"/>
                </a:solidFill>
                <a:latin typeface="TT Chocolates"/>
                <a:ea typeface="TT Chocolates"/>
                <a:cs typeface="TT Chocolates"/>
                <a:sym typeface="TT Chocolates"/>
              </a:rPr>
              <a:t>c. Informasi</a:t>
            </a:r>
          </a:p>
          <a:p>
            <a:pPr algn="just">
              <a:lnSpc>
                <a:spcPts val="4058"/>
              </a:lnSpc>
            </a:pPr>
            <a:r>
              <a:rPr lang="en-US" sz="2898">
                <a:solidFill>
                  <a:srgbClr val="FFFFFF"/>
                </a:solidFill>
                <a:latin typeface="TT Chocolates"/>
                <a:ea typeface="TT Chocolates"/>
                <a:cs typeface="TT Chocolates"/>
                <a:sym typeface="TT Chocolates"/>
              </a:rPr>
              <a:t>Koran → radio → TV → internet → media sosial.</a:t>
            </a:r>
          </a:p>
          <a:p>
            <a:pPr algn="just">
              <a:lnSpc>
                <a:spcPts val="4058"/>
              </a:lnSpc>
            </a:pPr>
            <a:r>
              <a:rPr lang="en-US" sz="2898">
                <a:solidFill>
                  <a:srgbClr val="FFFFFF"/>
                </a:solidFill>
                <a:latin typeface="TT Chocolates"/>
                <a:ea typeface="TT Chocolates"/>
                <a:cs typeface="TT Chocolates"/>
                <a:sym typeface="TT Chocolates"/>
              </a:rPr>
              <a:t>d. Kesehatan</a:t>
            </a:r>
          </a:p>
          <a:p>
            <a:pPr algn="just">
              <a:lnSpc>
                <a:spcPts val="4058"/>
              </a:lnSpc>
            </a:pPr>
            <a:r>
              <a:rPr lang="en-US" sz="2898">
                <a:solidFill>
                  <a:srgbClr val="FFFFFF"/>
                </a:solidFill>
                <a:latin typeface="TT Chocolates"/>
                <a:ea typeface="TT Chocolates"/>
                <a:cs typeface="TT Chocolates"/>
                <a:sym typeface="TT Chocolates"/>
              </a:rPr>
              <a:t>Pengobatan tradisional → alat medis modern → telemedicine → robot bedah.</a:t>
            </a:r>
          </a:p>
          <a:p>
            <a:pPr algn="just">
              <a:lnSpc>
                <a:spcPts val="4058"/>
              </a:lnSpc>
            </a:pPr>
            <a:r>
              <a:rPr lang="en-US" sz="2898">
                <a:solidFill>
                  <a:srgbClr val="FFFFFF"/>
                </a:solidFill>
                <a:latin typeface="TT Chocolates"/>
                <a:ea typeface="TT Chocolates"/>
                <a:cs typeface="TT Chocolates"/>
                <a:sym typeface="TT Chocolates"/>
              </a:rPr>
              <a:t>e. Pendidikan</a:t>
            </a:r>
          </a:p>
          <a:p>
            <a:pPr algn="just">
              <a:lnSpc>
                <a:spcPts val="4058"/>
              </a:lnSpc>
            </a:pPr>
            <a:r>
              <a:rPr lang="en-US" sz="2898">
                <a:solidFill>
                  <a:srgbClr val="FFFFFF"/>
                </a:solidFill>
                <a:latin typeface="TT Chocolates"/>
                <a:ea typeface="TT Chocolates"/>
                <a:cs typeface="TT Chocolates"/>
                <a:sym typeface="TT Chocolates"/>
              </a:rPr>
              <a:t>Papan tulis → komputer → e-learning → kelas virtual.</a:t>
            </a: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a:p>
            <a:pPr algn="just">
              <a:lnSpc>
                <a:spcPts val="4058"/>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05074" y="1112809"/>
            <a:ext cx="15477852" cy="8061381"/>
          </a:xfrm>
          <a:custGeom>
            <a:avLst/>
            <a:gdLst/>
            <a:ahLst/>
            <a:cxnLst/>
            <a:rect r="r" b="b" t="t" l="l"/>
            <a:pathLst>
              <a:path h="8061381" w="15477852">
                <a:moveTo>
                  <a:pt x="15477852" y="8061382"/>
                </a:moveTo>
                <a:lnTo>
                  <a:pt x="0" y="8061382"/>
                </a:lnTo>
                <a:lnTo>
                  <a:pt x="0" y="0"/>
                </a:lnTo>
                <a:lnTo>
                  <a:pt x="15477852" y="0"/>
                </a:lnTo>
                <a:lnTo>
                  <a:pt x="15477852" y="8061382"/>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5" id="5"/>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6" id="6"/>
          <p:cNvSpPr/>
          <p:nvPr/>
        </p:nvSpPr>
        <p:spPr>
          <a:xfrm flipH="false" flipV="false" rot="0">
            <a:off x="15399330" y="1112809"/>
            <a:ext cx="1005757" cy="857789"/>
          </a:xfrm>
          <a:custGeom>
            <a:avLst/>
            <a:gdLst/>
            <a:ahLst/>
            <a:cxnLst/>
            <a:rect r="r" b="b" t="t" l="l"/>
            <a:pathLst>
              <a:path h="857789" w="1005757">
                <a:moveTo>
                  <a:pt x="0" y="0"/>
                </a:moveTo>
                <a:lnTo>
                  <a:pt x="1005757" y="0"/>
                </a:lnTo>
                <a:lnTo>
                  <a:pt x="1005757" y="857789"/>
                </a:lnTo>
                <a:lnTo>
                  <a:pt x="0" y="857789"/>
                </a:lnTo>
                <a:lnTo>
                  <a:pt x="0" y="0"/>
                </a:lnTo>
                <a:close/>
              </a:path>
            </a:pathLst>
          </a:custGeom>
          <a:blipFill>
            <a:blip r:embed="rId4"/>
            <a:stretch>
              <a:fillRect l="0" t="0" r="0" b="0"/>
            </a:stretch>
          </a:blipFill>
        </p:spPr>
      </p:sp>
      <p:sp>
        <p:nvSpPr>
          <p:cNvPr name="Freeform 7" id="7"/>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1479340" y="9448800"/>
            <a:ext cx="2374695" cy="2353106"/>
          </a:xfrm>
          <a:custGeom>
            <a:avLst/>
            <a:gdLst/>
            <a:ahLst/>
            <a:cxnLst/>
            <a:rect r="r" b="b" t="t" l="l"/>
            <a:pathLst>
              <a:path h="2353106" w="2374695">
                <a:moveTo>
                  <a:pt x="0" y="0"/>
                </a:moveTo>
                <a:lnTo>
                  <a:pt x="2374695" y="0"/>
                </a:lnTo>
                <a:lnTo>
                  <a:pt x="2374695" y="2353106"/>
                </a:lnTo>
                <a:lnTo>
                  <a:pt x="0" y="235310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15095399" y="7579220"/>
            <a:ext cx="2381271" cy="2021381"/>
          </a:xfrm>
          <a:custGeom>
            <a:avLst/>
            <a:gdLst/>
            <a:ahLst/>
            <a:cxnLst/>
            <a:rect r="r" b="b" t="t" l="l"/>
            <a:pathLst>
              <a:path h="2021381" w="2381271">
                <a:moveTo>
                  <a:pt x="0" y="0"/>
                </a:moveTo>
                <a:lnTo>
                  <a:pt x="2381271" y="0"/>
                </a:lnTo>
                <a:lnTo>
                  <a:pt x="2381271" y="2021381"/>
                </a:lnTo>
                <a:lnTo>
                  <a:pt x="0" y="2021381"/>
                </a:lnTo>
                <a:lnTo>
                  <a:pt x="0" y="0"/>
                </a:lnTo>
                <a:close/>
              </a:path>
            </a:pathLst>
          </a:custGeom>
          <a:blipFill>
            <a:blip r:embed="rId7"/>
            <a:stretch>
              <a:fillRect l="0" t="0" r="0" b="0"/>
            </a:stretch>
          </a:blipFill>
        </p:spPr>
      </p:sp>
      <p:sp>
        <p:nvSpPr>
          <p:cNvPr name="TextBox 10" id="10"/>
          <p:cNvSpPr txBox="true"/>
          <p:nvPr/>
        </p:nvSpPr>
        <p:spPr>
          <a:xfrm rot="0">
            <a:off x="-7712014" y="1801278"/>
            <a:ext cx="19011235" cy="1130243"/>
          </a:xfrm>
          <a:prstGeom prst="rect">
            <a:avLst/>
          </a:prstGeom>
        </p:spPr>
        <p:txBody>
          <a:bodyPr anchor="t" rtlCol="false" tIns="0" lIns="0" bIns="0" rIns="0">
            <a:spAutoFit/>
          </a:bodyPr>
          <a:lstStyle/>
          <a:p>
            <a:pPr algn="r">
              <a:lnSpc>
                <a:spcPts val="9107"/>
              </a:lnSpc>
            </a:pPr>
            <a:r>
              <a:rPr lang="en-US" sz="7005">
                <a:solidFill>
                  <a:srgbClr val="FFFFFF"/>
                </a:solidFill>
                <a:latin typeface="League Spartan"/>
                <a:ea typeface="League Spartan"/>
                <a:cs typeface="League Spartan"/>
                <a:sym typeface="League Spartan"/>
              </a:rPr>
              <a:t>Dampak</a:t>
            </a:r>
          </a:p>
        </p:txBody>
      </p:sp>
      <p:sp>
        <p:nvSpPr>
          <p:cNvPr name="TextBox 11" id="11"/>
          <p:cNvSpPr txBox="true"/>
          <p:nvPr/>
        </p:nvSpPr>
        <p:spPr>
          <a:xfrm rot="0">
            <a:off x="-1881790" y="3029662"/>
            <a:ext cx="8955620" cy="529590"/>
          </a:xfrm>
          <a:prstGeom prst="rect">
            <a:avLst/>
          </a:prstGeom>
        </p:spPr>
        <p:txBody>
          <a:bodyPr anchor="t" rtlCol="false" tIns="0" lIns="0" bIns="0" rIns="0">
            <a:spAutoFit/>
          </a:bodyPr>
          <a:lstStyle/>
          <a:p>
            <a:pPr algn="r">
              <a:lnSpc>
                <a:spcPts val="4290"/>
              </a:lnSpc>
            </a:pPr>
            <a:r>
              <a:rPr lang="en-US" sz="3300">
                <a:solidFill>
                  <a:srgbClr val="FFFFFF"/>
                </a:solidFill>
                <a:latin typeface="League Spartan"/>
                <a:ea typeface="League Spartan"/>
                <a:cs typeface="League Spartan"/>
                <a:sym typeface="League Spartan"/>
              </a:rPr>
              <a:t>Positif </a:t>
            </a:r>
          </a:p>
        </p:txBody>
      </p:sp>
      <p:sp>
        <p:nvSpPr>
          <p:cNvPr name="TextBox 12" id="12"/>
          <p:cNvSpPr txBox="true"/>
          <p:nvPr/>
        </p:nvSpPr>
        <p:spPr>
          <a:xfrm rot="0">
            <a:off x="2682120" y="2306884"/>
            <a:ext cx="5286809" cy="6951416"/>
          </a:xfrm>
          <a:prstGeom prst="rect">
            <a:avLst/>
          </a:prstGeom>
        </p:spPr>
        <p:txBody>
          <a:bodyPr anchor="t" rtlCol="false" tIns="0" lIns="0" bIns="0" rIns="0">
            <a:spAutoFit/>
          </a:bodyPr>
          <a:lstStyle/>
          <a:p>
            <a:pPr algn="l">
              <a:lnSpc>
                <a:spcPts val="3665"/>
              </a:lnSpc>
            </a:pPr>
          </a:p>
          <a:p>
            <a:pPr algn="l">
              <a:lnSpc>
                <a:spcPts val="3665"/>
              </a:lnSpc>
            </a:pPr>
          </a:p>
          <a:p>
            <a:pPr algn="l">
              <a:lnSpc>
                <a:spcPts val="3665"/>
              </a:lnSpc>
            </a:pPr>
          </a:p>
          <a:p>
            <a:pPr algn="l" marL="608786" indent="-304393" lvl="1">
              <a:lnSpc>
                <a:spcPts val="3665"/>
              </a:lnSpc>
              <a:buAutoNum type="arabicPeriod" startAt="1"/>
            </a:pPr>
            <a:r>
              <a:rPr lang="en-US" sz="2819">
                <a:solidFill>
                  <a:srgbClr val="FFFFFF"/>
                </a:solidFill>
                <a:latin typeface="TT Chocolates"/>
                <a:ea typeface="TT Chocolates"/>
                <a:cs typeface="TT Chocolates"/>
                <a:sym typeface="TT Chocolates"/>
              </a:rPr>
              <a:t>Memudahkan akses informasi.</a:t>
            </a:r>
          </a:p>
          <a:p>
            <a:pPr algn="l" marL="608786" indent="-304393" lvl="1">
              <a:lnSpc>
                <a:spcPts val="3665"/>
              </a:lnSpc>
              <a:buAutoNum type="arabicPeriod" startAt="1"/>
            </a:pPr>
            <a:r>
              <a:rPr lang="en-US" sz="2819">
                <a:solidFill>
                  <a:srgbClr val="FFFFFF"/>
                </a:solidFill>
                <a:latin typeface="TT Chocolates"/>
                <a:ea typeface="TT Chocolates"/>
                <a:cs typeface="TT Chocolates"/>
                <a:sym typeface="TT Chocolates"/>
              </a:rPr>
              <a:t>Mempercepat komunikasi.</a:t>
            </a:r>
          </a:p>
          <a:p>
            <a:pPr algn="l" marL="608786" indent="-304393" lvl="1">
              <a:lnSpc>
                <a:spcPts val="3665"/>
              </a:lnSpc>
              <a:buAutoNum type="arabicPeriod" startAt="1"/>
            </a:pPr>
            <a:r>
              <a:rPr lang="en-US" sz="2819">
                <a:solidFill>
                  <a:srgbClr val="FFFFFF"/>
                </a:solidFill>
                <a:latin typeface="TT Chocolates"/>
                <a:ea typeface="TT Chocolates"/>
                <a:cs typeface="TT Chocolates"/>
                <a:sym typeface="TT Chocolates"/>
              </a:rPr>
              <a:t>Membuat kerja dan belajar lebih efisien.</a:t>
            </a:r>
          </a:p>
          <a:p>
            <a:pPr algn="l" marL="608786" indent="-304393" lvl="1">
              <a:lnSpc>
                <a:spcPts val="3665"/>
              </a:lnSpc>
              <a:buAutoNum type="arabicPeriod" startAt="1"/>
            </a:pPr>
            <a:r>
              <a:rPr lang="en-US" sz="2819">
                <a:solidFill>
                  <a:srgbClr val="FFFFFF"/>
                </a:solidFill>
                <a:latin typeface="TT Chocolates"/>
                <a:ea typeface="TT Chocolates"/>
                <a:cs typeface="TT Chocolates"/>
                <a:sym typeface="TT Chocolates"/>
              </a:rPr>
              <a:t>Mendorong inovasi di berbagai bidang.</a:t>
            </a:r>
          </a:p>
          <a:p>
            <a:pPr algn="l" marL="608786" indent="-304393" lvl="1">
              <a:lnSpc>
                <a:spcPts val="3665"/>
              </a:lnSpc>
              <a:buAutoNum type="arabicPeriod" startAt="1"/>
            </a:pPr>
            <a:r>
              <a:rPr lang="en-US" sz="2819">
                <a:solidFill>
                  <a:srgbClr val="FFFFFF"/>
                </a:solidFill>
                <a:latin typeface="TT Chocolates"/>
                <a:ea typeface="TT Chocolates"/>
                <a:cs typeface="TT Chocolates"/>
                <a:sym typeface="TT Chocolates"/>
              </a:rPr>
              <a:t>Mempermudah transaksi keuangan.</a:t>
            </a:r>
          </a:p>
          <a:p>
            <a:pPr algn="l" marL="608786" indent="-304393" lvl="1">
              <a:lnSpc>
                <a:spcPts val="3665"/>
              </a:lnSpc>
              <a:buAutoNum type="arabicPeriod" startAt="1"/>
            </a:pPr>
            <a:r>
              <a:rPr lang="en-US" sz="2819">
                <a:solidFill>
                  <a:srgbClr val="FFFFFF"/>
                </a:solidFill>
                <a:latin typeface="TT Chocolates"/>
                <a:ea typeface="TT Chocolates"/>
                <a:cs typeface="TT Chocolates"/>
                <a:sym typeface="TT Chocolates"/>
              </a:rPr>
              <a:t>Menambah kreativitas.</a:t>
            </a:r>
          </a:p>
          <a:p>
            <a:pPr algn="l" marL="608786" indent="-304393" lvl="1">
              <a:lnSpc>
                <a:spcPts val="3665"/>
              </a:lnSpc>
              <a:buAutoNum type="arabicPeriod" startAt="1"/>
            </a:pPr>
            <a:r>
              <a:rPr lang="en-US" sz="2819">
                <a:solidFill>
                  <a:srgbClr val="FFFFFF"/>
                </a:solidFill>
                <a:latin typeface="TT Chocolates"/>
                <a:ea typeface="TT Chocolates"/>
                <a:cs typeface="TT Chocolates"/>
                <a:sym typeface="TT Chocolates"/>
              </a:rPr>
              <a:t>Membuka peluang usaha baru.</a:t>
            </a:r>
          </a:p>
          <a:p>
            <a:pPr algn="l">
              <a:lnSpc>
                <a:spcPts val="3665"/>
              </a:lnSpc>
            </a:pPr>
          </a:p>
          <a:p>
            <a:pPr algn="l">
              <a:lnSpc>
                <a:spcPts val="3665"/>
              </a:lnSpc>
            </a:pPr>
          </a:p>
        </p:txBody>
      </p:sp>
      <p:sp>
        <p:nvSpPr>
          <p:cNvPr name="TextBox 13" id="13"/>
          <p:cNvSpPr txBox="true"/>
          <p:nvPr/>
        </p:nvSpPr>
        <p:spPr>
          <a:xfrm rot="0">
            <a:off x="4666190" y="2941259"/>
            <a:ext cx="8955620" cy="529590"/>
          </a:xfrm>
          <a:prstGeom prst="rect">
            <a:avLst/>
          </a:prstGeom>
        </p:spPr>
        <p:txBody>
          <a:bodyPr anchor="t" rtlCol="false" tIns="0" lIns="0" bIns="0" rIns="0">
            <a:spAutoFit/>
          </a:bodyPr>
          <a:lstStyle/>
          <a:p>
            <a:pPr algn="r">
              <a:lnSpc>
                <a:spcPts val="4290"/>
              </a:lnSpc>
            </a:pPr>
            <a:r>
              <a:rPr lang="en-US" sz="3300">
                <a:solidFill>
                  <a:srgbClr val="FFFFFF"/>
                </a:solidFill>
                <a:latin typeface="League Spartan"/>
                <a:ea typeface="League Spartan"/>
                <a:cs typeface="League Spartan"/>
                <a:sym typeface="League Spartan"/>
              </a:rPr>
              <a:t>Negatif </a:t>
            </a:r>
          </a:p>
        </p:txBody>
      </p:sp>
      <p:sp>
        <p:nvSpPr>
          <p:cNvPr name="TextBox 14" id="14"/>
          <p:cNvSpPr txBox="true"/>
          <p:nvPr/>
        </p:nvSpPr>
        <p:spPr>
          <a:xfrm rot="0">
            <a:off x="9808590" y="3494135"/>
            <a:ext cx="5286809" cy="5095776"/>
          </a:xfrm>
          <a:prstGeom prst="rect">
            <a:avLst/>
          </a:prstGeom>
        </p:spPr>
        <p:txBody>
          <a:bodyPr anchor="t" rtlCol="false" tIns="0" lIns="0" bIns="0" rIns="0">
            <a:spAutoFit/>
          </a:bodyPr>
          <a:lstStyle/>
          <a:p>
            <a:pPr algn="l">
              <a:lnSpc>
                <a:spcPts val="3665"/>
              </a:lnSpc>
            </a:pPr>
            <a:r>
              <a:rPr lang="en-US" sz="2819">
                <a:solidFill>
                  <a:srgbClr val="FFFFFF"/>
                </a:solidFill>
                <a:latin typeface="TT Chocolates"/>
                <a:ea typeface="TT Chocolates"/>
                <a:cs typeface="TT Chocolates"/>
                <a:sym typeface="TT Chocolates"/>
              </a:rPr>
              <a:t>1. Ketergantungan pada gadget.</a:t>
            </a:r>
          </a:p>
          <a:p>
            <a:pPr algn="l">
              <a:lnSpc>
                <a:spcPts val="3665"/>
              </a:lnSpc>
            </a:pPr>
            <a:r>
              <a:rPr lang="en-US" sz="2819">
                <a:solidFill>
                  <a:srgbClr val="FFFFFF"/>
                </a:solidFill>
                <a:latin typeface="TT Chocolates"/>
                <a:ea typeface="TT Chocolates"/>
                <a:cs typeface="TT Chocolates"/>
                <a:sym typeface="TT Chocolates"/>
              </a:rPr>
              <a:t>2. Berkurangnya interaksi sosial langsung.</a:t>
            </a:r>
          </a:p>
          <a:p>
            <a:pPr algn="l">
              <a:lnSpc>
                <a:spcPts val="3665"/>
              </a:lnSpc>
            </a:pPr>
            <a:r>
              <a:rPr lang="en-US" sz="2819">
                <a:solidFill>
                  <a:srgbClr val="FFFFFF"/>
                </a:solidFill>
                <a:latin typeface="TT Chocolates"/>
                <a:ea typeface="TT Chocolates"/>
                <a:cs typeface="TT Chocolates"/>
                <a:sym typeface="TT Chocolates"/>
              </a:rPr>
              <a:t>3. Penyebaran hoaks dan informasi palsu.</a:t>
            </a:r>
          </a:p>
          <a:p>
            <a:pPr algn="l">
              <a:lnSpc>
                <a:spcPts val="3665"/>
              </a:lnSpc>
            </a:pPr>
            <a:r>
              <a:rPr lang="en-US" sz="2819">
                <a:solidFill>
                  <a:srgbClr val="FFFFFF"/>
                </a:solidFill>
                <a:latin typeface="TT Chocolates"/>
                <a:ea typeface="TT Chocolates"/>
                <a:cs typeface="TT Chocolates"/>
                <a:sym typeface="TT Chocolates"/>
              </a:rPr>
              <a:t>4. Ancaman kejahatan siber (hacking, penipuan).</a:t>
            </a:r>
          </a:p>
          <a:p>
            <a:pPr algn="l">
              <a:lnSpc>
                <a:spcPts val="3665"/>
              </a:lnSpc>
            </a:pPr>
            <a:r>
              <a:rPr lang="en-US" sz="2819">
                <a:solidFill>
                  <a:srgbClr val="FFFFFF"/>
                </a:solidFill>
                <a:latin typeface="TT Chocolates"/>
                <a:ea typeface="TT Chocolates"/>
                <a:cs typeface="TT Chocolates"/>
                <a:sym typeface="TT Chocolates"/>
              </a:rPr>
              <a:t>5. Gangguan kesehatan (mata lelah, kurang tidur).</a:t>
            </a:r>
          </a:p>
          <a:p>
            <a:pPr algn="l">
              <a:lnSpc>
                <a:spcPts val="3665"/>
              </a:lnSpc>
            </a:pPr>
            <a:r>
              <a:rPr lang="en-US" sz="2819">
                <a:solidFill>
                  <a:srgbClr val="FFFFFF"/>
                </a:solidFill>
                <a:latin typeface="TT Chocolates"/>
                <a:ea typeface="TT Chocolates"/>
                <a:cs typeface="TT Chocolates"/>
                <a:sym typeface="TT Chocolates"/>
              </a:rPr>
              <a:t>6. Konten negatif mudah diakses.</a:t>
            </a:r>
          </a:p>
          <a:p>
            <a:pPr algn="l">
              <a:lnSpc>
                <a:spcPts val="3665"/>
              </a:lnSpc>
            </a:pPr>
            <a:r>
              <a:rPr lang="en-US" sz="2819">
                <a:solidFill>
                  <a:srgbClr val="FFFFFF"/>
                </a:solidFill>
                <a:latin typeface="TT Chocolates"/>
                <a:ea typeface="TT Chocolates"/>
                <a:cs typeface="TT Chocolates"/>
                <a:sym typeface="TT Chocolates"/>
              </a:rPr>
              <a:t>7. Privasi lebih rentan bocor.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541980"/>
        </a:solidFill>
      </p:bgPr>
    </p:bg>
    <p:spTree>
      <p:nvGrpSpPr>
        <p:cNvPr id="1" name=""/>
        <p:cNvGrpSpPr/>
        <p:nvPr/>
      </p:nvGrpSpPr>
      <p:grpSpPr>
        <a:xfrm>
          <a:off x="0" y="0"/>
          <a:ext cx="0" cy="0"/>
          <a:chOff x="0" y="0"/>
          <a:chExt cx="0" cy="0"/>
        </a:xfrm>
      </p:grpSpPr>
      <p:sp>
        <p:nvSpPr>
          <p:cNvPr name="Freeform 2" id="2"/>
          <p:cNvSpPr/>
          <p:nvPr/>
        </p:nvSpPr>
        <p:spPr>
          <a:xfrm flipH="true" flipV="false" rot="0">
            <a:off x="586365" y="686399"/>
            <a:ext cx="17115270" cy="8914203"/>
          </a:xfrm>
          <a:custGeom>
            <a:avLst/>
            <a:gdLst/>
            <a:ahLst/>
            <a:cxnLst/>
            <a:rect r="r" b="b" t="t" l="l"/>
            <a:pathLst>
              <a:path h="8914203" w="17115270">
                <a:moveTo>
                  <a:pt x="17115270" y="0"/>
                </a:moveTo>
                <a:lnTo>
                  <a:pt x="0" y="0"/>
                </a:lnTo>
                <a:lnTo>
                  <a:pt x="0" y="8914202"/>
                </a:lnTo>
                <a:lnTo>
                  <a:pt x="17115270" y="8914202"/>
                </a:lnTo>
                <a:lnTo>
                  <a:pt x="1711527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04103">
            <a:off x="581139" y="820360"/>
            <a:ext cx="2400618" cy="2047436"/>
          </a:xfrm>
          <a:custGeom>
            <a:avLst/>
            <a:gdLst/>
            <a:ahLst/>
            <a:cxnLst/>
            <a:rect r="r" b="b" t="t" l="l"/>
            <a:pathLst>
              <a:path h="2047436" w="2400618">
                <a:moveTo>
                  <a:pt x="0" y="0"/>
                </a:moveTo>
                <a:lnTo>
                  <a:pt x="2400619" y="0"/>
                </a:lnTo>
                <a:lnTo>
                  <a:pt x="2400619" y="2047436"/>
                </a:lnTo>
                <a:lnTo>
                  <a:pt x="0" y="2047436"/>
                </a:lnTo>
                <a:lnTo>
                  <a:pt x="0" y="0"/>
                </a:lnTo>
                <a:close/>
              </a:path>
            </a:pathLst>
          </a:custGeom>
          <a:blipFill>
            <a:blip r:embed="rId4"/>
            <a:stretch>
              <a:fillRect l="0" t="0" r="0" b="0"/>
            </a:stretch>
          </a:blipFill>
        </p:spPr>
      </p:sp>
      <p:sp>
        <p:nvSpPr>
          <p:cNvPr name="Freeform 4" id="4"/>
          <p:cNvSpPr/>
          <p:nvPr/>
        </p:nvSpPr>
        <p:spPr>
          <a:xfrm flipH="false" flipV="true" rot="0">
            <a:off x="1241521" y="8197132"/>
            <a:ext cx="1244220" cy="1061168"/>
          </a:xfrm>
          <a:custGeom>
            <a:avLst/>
            <a:gdLst/>
            <a:ahLst/>
            <a:cxnLst/>
            <a:rect r="r" b="b" t="t" l="l"/>
            <a:pathLst>
              <a:path h="1061168" w="1244220">
                <a:moveTo>
                  <a:pt x="0" y="1061168"/>
                </a:moveTo>
                <a:lnTo>
                  <a:pt x="1244220" y="1061168"/>
                </a:lnTo>
                <a:lnTo>
                  <a:pt x="1244220" y="0"/>
                </a:lnTo>
                <a:lnTo>
                  <a:pt x="0" y="0"/>
                </a:lnTo>
                <a:lnTo>
                  <a:pt x="0" y="1061168"/>
                </a:lnTo>
                <a:close/>
              </a:path>
            </a:pathLst>
          </a:custGeom>
          <a:blipFill>
            <a:blip r:embed="rId4"/>
            <a:stretch>
              <a:fillRect l="0" t="0" r="0" b="0"/>
            </a:stretch>
          </a:blipFill>
        </p:spPr>
      </p:sp>
      <p:sp>
        <p:nvSpPr>
          <p:cNvPr name="Freeform 5" id="5"/>
          <p:cNvSpPr/>
          <p:nvPr/>
        </p:nvSpPr>
        <p:spPr>
          <a:xfrm flipH="true" flipV="true" rot="0">
            <a:off x="1781448" y="1968012"/>
            <a:ext cx="13401854" cy="6980132"/>
          </a:xfrm>
          <a:custGeom>
            <a:avLst/>
            <a:gdLst/>
            <a:ahLst/>
            <a:cxnLst/>
            <a:rect r="r" b="b" t="t" l="l"/>
            <a:pathLst>
              <a:path h="6980132" w="13401854">
                <a:moveTo>
                  <a:pt x="13401854" y="6980133"/>
                </a:moveTo>
                <a:lnTo>
                  <a:pt x="0" y="6980133"/>
                </a:lnTo>
                <a:lnTo>
                  <a:pt x="0" y="0"/>
                </a:lnTo>
                <a:lnTo>
                  <a:pt x="13401854" y="0"/>
                </a:lnTo>
                <a:lnTo>
                  <a:pt x="13401854" y="698013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8383479" y="3302058"/>
            <a:ext cx="5121624" cy="3892435"/>
          </a:xfrm>
          <a:custGeom>
            <a:avLst/>
            <a:gdLst/>
            <a:ahLst/>
            <a:cxnLst/>
            <a:rect r="r" b="b" t="t" l="l"/>
            <a:pathLst>
              <a:path h="3892435" w="5121624">
                <a:moveTo>
                  <a:pt x="0" y="0"/>
                </a:moveTo>
                <a:lnTo>
                  <a:pt x="5121625" y="0"/>
                </a:lnTo>
                <a:lnTo>
                  <a:pt x="5121625" y="3892434"/>
                </a:lnTo>
                <a:lnTo>
                  <a:pt x="0" y="389243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true" flipV="false" rot="0">
            <a:off x="10205466" y="1133475"/>
            <a:ext cx="7187184" cy="8229600"/>
          </a:xfrm>
          <a:custGeom>
            <a:avLst/>
            <a:gdLst/>
            <a:ahLst/>
            <a:cxnLst/>
            <a:rect r="r" b="b" t="t" l="l"/>
            <a:pathLst>
              <a:path h="8229600" w="7187184">
                <a:moveTo>
                  <a:pt x="7187184" y="0"/>
                </a:moveTo>
                <a:lnTo>
                  <a:pt x="0" y="0"/>
                </a:lnTo>
                <a:lnTo>
                  <a:pt x="0" y="8229600"/>
                </a:lnTo>
                <a:lnTo>
                  <a:pt x="7187184" y="8229600"/>
                </a:lnTo>
                <a:lnTo>
                  <a:pt x="7187184" y="0"/>
                </a:lnTo>
                <a:close/>
              </a:path>
            </a:pathLst>
          </a:custGeom>
          <a:blipFill>
            <a:blip r:embed="rId7"/>
            <a:stretch>
              <a:fillRect l="0" t="0" r="0" b="0"/>
            </a:stretch>
          </a:blipFill>
        </p:spPr>
      </p:sp>
      <p:sp>
        <p:nvSpPr>
          <p:cNvPr name="Freeform 8" id="8"/>
          <p:cNvSpPr/>
          <p:nvPr/>
        </p:nvSpPr>
        <p:spPr>
          <a:xfrm flipH="false" flipV="false" rot="0">
            <a:off x="10348341" y="1415184"/>
            <a:ext cx="1005757" cy="857789"/>
          </a:xfrm>
          <a:custGeom>
            <a:avLst/>
            <a:gdLst/>
            <a:ahLst/>
            <a:cxnLst/>
            <a:rect r="r" b="b" t="t" l="l"/>
            <a:pathLst>
              <a:path h="857789" w="1005757">
                <a:moveTo>
                  <a:pt x="0" y="0"/>
                </a:moveTo>
                <a:lnTo>
                  <a:pt x="1005757" y="0"/>
                </a:lnTo>
                <a:lnTo>
                  <a:pt x="1005757" y="857788"/>
                </a:lnTo>
                <a:lnTo>
                  <a:pt x="0" y="857788"/>
                </a:lnTo>
                <a:lnTo>
                  <a:pt x="0" y="0"/>
                </a:lnTo>
                <a:close/>
              </a:path>
            </a:pathLst>
          </a:custGeom>
          <a:blipFill>
            <a:blip r:embed="rId4"/>
            <a:stretch>
              <a:fillRect l="0" t="0" r="0" b="0"/>
            </a:stretch>
          </a:blipFill>
        </p:spPr>
      </p:sp>
      <p:sp>
        <p:nvSpPr>
          <p:cNvPr name="Freeform 9" id="9"/>
          <p:cNvSpPr/>
          <p:nvPr/>
        </p:nvSpPr>
        <p:spPr>
          <a:xfrm flipH="false" flipV="false" rot="0">
            <a:off x="14810985" y="9448800"/>
            <a:ext cx="2182447" cy="2162606"/>
          </a:xfrm>
          <a:custGeom>
            <a:avLst/>
            <a:gdLst/>
            <a:ahLst/>
            <a:cxnLst/>
            <a:rect r="r" b="b" t="t" l="l"/>
            <a:pathLst>
              <a:path h="2162606" w="2182447">
                <a:moveTo>
                  <a:pt x="0" y="0"/>
                </a:moveTo>
                <a:lnTo>
                  <a:pt x="2182447" y="0"/>
                </a:lnTo>
                <a:lnTo>
                  <a:pt x="2182447" y="2162606"/>
                </a:lnTo>
                <a:lnTo>
                  <a:pt x="0" y="216260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6313045" y="1133475"/>
            <a:ext cx="680388" cy="654409"/>
          </a:xfrm>
          <a:custGeom>
            <a:avLst/>
            <a:gdLst/>
            <a:ahLst/>
            <a:cxnLst/>
            <a:rect r="r" b="b" t="t" l="l"/>
            <a:pathLst>
              <a:path h="654409" w="680388">
                <a:moveTo>
                  <a:pt x="0" y="0"/>
                </a:moveTo>
                <a:lnTo>
                  <a:pt x="680387" y="0"/>
                </a:lnTo>
                <a:lnTo>
                  <a:pt x="680387" y="654409"/>
                </a:lnTo>
                <a:lnTo>
                  <a:pt x="0" y="65440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1" id="11"/>
          <p:cNvSpPr txBox="true"/>
          <p:nvPr/>
        </p:nvSpPr>
        <p:spPr>
          <a:xfrm rot="0">
            <a:off x="2799485" y="3810073"/>
            <a:ext cx="5293648" cy="2761952"/>
          </a:xfrm>
          <a:prstGeom prst="rect">
            <a:avLst/>
          </a:prstGeom>
        </p:spPr>
        <p:txBody>
          <a:bodyPr anchor="t" rtlCol="false" tIns="0" lIns="0" bIns="0" rIns="0">
            <a:spAutoFit/>
          </a:bodyPr>
          <a:lstStyle/>
          <a:p>
            <a:pPr algn="ctr">
              <a:lnSpc>
                <a:spcPts val="10800"/>
              </a:lnSpc>
            </a:pPr>
            <a:r>
              <a:rPr lang="en-US" sz="9000" b="true">
                <a:solidFill>
                  <a:srgbClr val="FFFFFF"/>
                </a:solidFill>
                <a:latin typeface="TT Chocolates Bold"/>
                <a:ea typeface="TT Chocolates Bold"/>
                <a:cs typeface="TT Chocolates Bold"/>
                <a:sym typeface="TT Chocolates Bold"/>
              </a:rPr>
              <a:t>Terima Kasih</a:t>
            </a:r>
          </a:p>
        </p:txBody>
      </p:sp>
      <p:sp>
        <p:nvSpPr>
          <p:cNvPr name="Freeform 12" id="12"/>
          <p:cNvSpPr/>
          <p:nvPr/>
        </p:nvSpPr>
        <p:spPr>
          <a:xfrm flipH="false" flipV="false" rot="0">
            <a:off x="7272288" y="7194492"/>
            <a:ext cx="820846" cy="789505"/>
          </a:xfrm>
          <a:custGeom>
            <a:avLst/>
            <a:gdLst/>
            <a:ahLst/>
            <a:cxnLst/>
            <a:rect r="r" b="b" t="t" l="l"/>
            <a:pathLst>
              <a:path h="789505" w="820846">
                <a:moveTo>
                  <a:pt x="0" y="0"/>
                </a:moveTo>
                <a:lnTo>
                  <a:pt x="820846" y="0"/>
                </a:lnTo>
                <a:lnTo>
                  <a:pt x="820846" y="789505"/>
                </a:lnTo>
                <a:lnTo>
                  <a:pt x="0" y="7895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594623" y="-1721320"/>
            <a:ext cx="2651415" cy="2627311"/>
          </a:xfrm>
          <a:custGeom>
            <a:avLst/>
            <a:gdLst/>
            <a:ahLst/>
            <a:cxnLst/>
            <a:rect r="r" b="b" t="t" l="l"/>
            <a:pathLst>
              <a:path h="2627311" w="2651415">
                <a:moveTo>
                  <a:pt x="0" y="0"/>
                </a:moveTo>
                <a:lnTo>
                  <a:pt x="2651415" y="0"/>
                </a:lnTo>
                <a:lnTo>
                  <a:pt x="2651415" y="2627312"/>
                </a:lnTo>
                <a:lnTo>
                  <a:pt x="0" y="2627312"/>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DAG5SQH1wbg</dc:identifier>
  <dcterms:modified xsi:type="dcterms:W3CDTF">2011-08-01T06:04:30Z</dcterms:modified>
  <cp:revision>1</cp:revision>
  <dc:title>Ungu dan Biru Modern Teknologi Presentasi Mengenal Kecerdasan Buatan</dc:title>
</cp:coreProperties>
</file>